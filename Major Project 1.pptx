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media/image9.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5" r:id="rId9"/>
    <p:sldId id="266" r:id="rId10"/>
    <p:sldId id="267" r:id="rId11"/>
    <p:sldId id="268" r:id="rId12"/>
    <p:sldId id="269" r:id="rId13"/>
    <p:sldId id="274" r:id="rId14"/>
    <p:sldId id="275" r:id="rId15"/>
    <p:sldId id="276" r:id="rId1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84" y="102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BD499E-C524-4092-906E-51960229D75A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B5284D-2C50-4AFF-A97A-692D45AF9D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1188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B5284D-2C50-4AFF-A97A-692D45AF9D08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86594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B5284D-2C50-4AFF-A97A-692D45AF9D08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00383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41275">
              <a:lnSpc>
                <a:spcPct val="100000"/>
              </a:lnSpc>
              <a:spcBef>
                <a:spcPts val="9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41275">
              <a:lnSpc>
                <a:spcPct val="100000"/>
              </a:lnSpc>
              <a:spcBef>
                <a:spcPts val="9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41275">
              <a:lnSpc>
                <a:spcPct val="100000"/>
              </a:lnSpc>
              <a:spcBef>
                <a:spcPts val="9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41275">
              <a:lnSpc>
                <a:spcPct val="100000"/>
              </a:lnSpc>
              <a:spcBef>
                <a:spcPts val="9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41275">
              <a:lnSpc>
                <a:spcPct val="100000"/>
              </a:lnSpc>
              <a:spcBef>
                <a:spcPts val="9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496675" y="0"/>
            <a:ext cx="695325" cy="70485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4612" y="-1650"/>
            <a:ext cx="6769099" cy="6840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99072" y="1051242"/>
            <a:ext cx="11195685" cy="29673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999851" y="6389846"/>
            <a:ext cx="320675" cy="305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41275">
              <a:lnSpc>
                <a:spcPct val="100000"/>
              </a:lnSpc>
              <a:spcBef>
                <a:spcPts val="9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05350" y="2486025"/>
            <a:ext cx="1990725" cy="188595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141075" y="6378892"/>
            <a:ext cx="141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5332" y="3814762"/>
            <a:ext cx="3816668" cy="828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Presented</a:t>
            </a:r>
            <a:r>
              <a:rPr sz="1800" b="1" spc="-65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Times New Roman"/>
                <a:cs typeface="Times New Roman"/>
              </a:rPr>
              <a:t>By:</a:t>
            </a:r>
            <a:endParaRPr sz="1800" dirty="0">
              <a:latin typeface="Times New Roman"/>
              <a:cs typeface="Times New Roman"/>
            </a:endParaRPr>
          </a:p>
          <a:p>
            <a:pPr marL="240665">
              <a:lnSpc>
                <a:spcPts val="2130"/>
              </a:lnSpc>
            </a:pP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Kandolu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Vasantha Raju</a:t>
            </a:r>
            <a:r>
              <a:rPr sz="1800" spc="-1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(</a:t>
            </a:r>
            <a:r>
              <a:rPr lang="en-US" sz="1800" spc="-10" dirty="0">
                <a:latin typeface="Times New Roman"/>
                <a:cs typeface="Times New Roman"/>
              </a:rPr>
              <a:t>221CV225</a:t>
            </a:r>
            <a:r>
              <a:rPr sz="1800" spc="-10" dirty="0">
                <a:latin typeface="Times New Roman"/>
                <a:cs typeface="Times New Roman"/>
              </a:rPr>
              <a:t>)</a:t>
            </a:r>
            <a:endParaRPr sz="1800" dirty="0">
              <a:latin typeface="Times New Roman"/>
              <a:cs typeface="Times New Roman"/>
            </a:endParaRPr>
          </a:p>
          <a:p>
            <a:pPr marL="240665" marR="5080">
              <a:lnSpc>
                <a:spcPct val="100899"/>
              </a:lnSpc>
              <a:spcBef>
                <a:spcPts val="75"/>
              </a:spcBef>
            </a:pPr>
            <a:r>
              <a:rPr lang="en-US" sz="1800" dirty="0">
                <a:latin typeface="Times New Roman"/>
                <a:cs typeface="Times New Roman"/>
              </a:rPr>
              <a:t>Gowtham R </a:t>
            </a:r>
            <a:r>
              <a:rPr sz="1800" spc="-10" dirty="0">
                <a:latin typeface="Times New Roman"/>
                <a:cs typeface="Times New Roman"/>
              </a:rPr>
              <a:t>(221CV2</a:t>
            </a:r>
            <a:r>
              <a:rPr lang="en-US" sz="1800" spc="-10" dirty="0">
                <a:latin typeface="Times New Roman"/>
                <a:cs typeface="Times New Roman"/>
              </a:rPr>
              <a:t>22</a:t>
            </a:r>
            <a:r>
              <a:rPr sz="1800" spc="-10" dirty="0">
                <a:latin typeface="Times New Roman"/>
                <a:cs typeface="Times New Roman"/>
              </a:rPr>
              <a:t>) 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94066" y="3814762"/>
            <a:ext cx="2537460" cy="139763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249554" marR="5080" indent="-237490">
              <a:lnSpc>
                <a:spcPct val="100800"/>
              </a:lnSpc>
              <a:spcBef>
                <a:spcPts val="85"/>
              </a:spcBef>
            </a:pPr>
            <a:r>
              <a:rPr sz="1800" b="1" dirty="0">
                <a:latin typeface="Times New Roman"/>
                <a:cs typeface="Times New Roman"/>
              </a:rPr>
              <a:t>Under</a:t>
            </a:r>
            <a:r>
              <a:rPr sz="1800" b="1" spc="-8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the guidance</a:t>
            </a:r>
            <a:r>
              <a:rPr sz="1800" b="1" spc="5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Times New Roman"/>
                <a:cs typeface="Times New Roman"/>
              </a:rPr>
              <a:t>of: </a:t>
            </a:r>
            <a:r>
              <a:rPr sz="1800" b="1" i="1" dirty="0">
                <a:latin typeface="Times New Roman"/>
                <a:cs typeface="Times New Roman"/>
              </a:rPr>
              <a:t>Dr.</a:t>
            </a:r>
            <a:r>
              <a:rPr sz="1800" b="1" i="1" spc="-30" dirty="0">
                <a:latin typeface="Times New Roman"/>
                <a:cs typeface="Times New Roman"/>
              </a:rPr>
              <a:t> </a:t>
            </a:r>
            <a:r>
              <a:rPr sz="1800" b="1" i="1" dirty="0">
                <a:latin typeface="Times New Roman"/>
                <a:cs typeface="Times New Roman"/>
              </a:rPr>
              <a:t>Dwarakish</a:t>
            </a:r>
            <a:r>
              <a:rPr sz="1800" b="1" i="1" spc="-65" dirty="0">
                <a:latin typeface="Times New Roman"/>
                <a:cs typeface="Times New Roman"/>
              </a:rPr>
              <a:t> </a:t>
            </a:r>
            <a:r>
              <a:rPr sz="1800" b="1" i="1" dirty="0">
                <a:latin typeface="Times New Roman"/>
                <a:cs typeface="Times New Roman"/>
              </a:rPr>
              <a:t>G</a:t>
            </a:r>
            <a:r>
              <a:rPr sz="1800" b="1" i="1" spc="-75" dirty="0">
                <a:latin typeface="Times New Roman"/>
                <a:cs typeface="Times New Roman"/>
              </a:rPr>
              <a:t> </a:t>
            </a:r>
            <a:r>
              <a:rPr sz="1800" b="1" i="1" spc="-50" dirty="0">
                <a:latin typeface="Times New Roman"/>
                <a:cs typeface="Times New Roman"/>
              </a:rPr>
              <a:t>S </a:t>
            </a:r>
            <a:r>
              <a:rPr sz="1800" dirty="0">
                <a:latin typeface="Times New Roman"/>
                <a:cs typeface="Times New Roman"/>
              </a:rPr>
              <a:t>Dept.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Water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Resource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&amp; </a:t>
            </a:r>
            <a:r>
              <a:rPr sz="1800" dirty="0">
                <a:latin typeface="Times New Roman"/>
                <a:cs typeface="Times New Roman"/>
              </a:rPr>
              <a:t>Ocean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Engineering</a:t>
            </a:r>
            <a:endParaRPr sz="1800" dirty="0">
              <a:latin typeface="Times New Roman"/>
              <a:cs typeface="Times New Roman"/>
            </a:endParaRPr>
          </a:p>
          <a:p>
            <a:pPr marL="80010">
              <a:lnSpc>
                <a:spcPts val="2105"/>
              </a:lnSpc>
            </a:pPr>
            <a:r>
              <a:rPr sz="1800" dirty="0">
                <a:latin typeface="Times New Roman"/>
                <a:cs typeface="Times New Roman"/>
              </a:rPr>
              <a:t>NITK</a:t>
            </a:r>
            <a:r>
              <a:rPr sz="1800" spc="-10" dirty="0">
                <a:latin typeface="Times New Roman"/>
                <a:cs typeface="Times New Roman"/>
              </a:rPr>
              <a:t> Surathkal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69539" y="5741352"/>
            <a:ext cx="7673340" cy="84455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 indent="509270">
              <a:lnSpc>
                <a:spcPct val="100899"/>
              </a:lnSpc>
              <a:spcBef>
                <a:spcPts val="80"/>
              </a:spcBef>
            </a:pPr>
            <a:r>
              <a:rPr sz="1800" b="1" spc="-20" dirty="0">
                <a:latin typeface="Times New Roman"/>
                <a:cs typeface="Times New Roman"/>
              </a:rPr>
              <a:t>DEPARTMENT</a:t>
            </a:r>
            <a:r>
              <a:rPr sz="1800" b="1" spc="-7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OF</a:t>
            </a:r>
            <a:r>
              <a:rPr sz="1800" b="1" spc="-80" dirty="0">
                <a:latin typeface="Times New Roman"/>
                <a:cs typeface="Times New Roman"/>
              </a:rPr>
              <a:t> </a:t>
            </a:r>
            <a:r>
              <a:rPr sz="1800" b="1" spc="-70" dirty="0">
                <a:latin typeface="Times New Roman"/>
                <a:cs typeface="Times New Roman"/>
              </a:rPr>
              <a:t>WATER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RESOURCES</a:t>
            </a:r>
            <a:r>
              <a:rPr sz="1800" b="1" spc="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&amp;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OCEAN</a:t>
            </a:r>
            <a:r>
              <a:rPr sz="1800" b="1" spc="-6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ENGINEERING </a:t>
            </a:r>
            <a:r>
              <a:rPr sz="1800" b="1" spc="-15" dirty="0">
                <a:latin typeface="Times New Roman"/>
                <a:cs typeface="Times New Roman"/>
              </a:rPr>
              <a:t>NATIONAL</a:t>
            </a:r>
            <a:r>
              <a:rPr sz="1800" b="1" spc="-16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INSTITUTE</a:t>
            </a:r>
            <a:r>
              <a:rPr sz="1800" b="1" spc="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OF</a:t>
            </a:r>
            <a:r>
              <a:rPr sz="1800" b="1" spc="-12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TECHNOLOGY</a:t>
            </a:r>
            <a:r>
              <a:rPr sz="1800" b="1" spc="-75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Times New Roman"/>
                <a:cs typeface="Times New Roman"/>
              </a:rPr>
              <a:t>KARNATAKA,</a:t>
            </a:r>
            <a:r>
              <a:rPr sz="1800" b="1" spc="1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SURATHKAL</a:t>
            </a:r>
            <a:endParaRPr sz="1800">
              <a:latin typeface="Times New Roman"/>
              <a:cs typeface="Times New Roman"/>
            </a:endParaRPr>
          </a:p>
          <a:p>
            <a:pPr marL="2567305">
              <a:lnSpc>
                <a:spcPts val="2100"/>
              </a:lnSpc>
            </a:pPr>
            <a:r>
              <a:rPr sz="1800" b="1" spc="-10" dirty="0">
                <a:latin typeface="Times New Roman"/>
                <a:cs typeface="Times New Roman"/>
              </a:rPr>
              <a:t>MANGALURU-575025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70275" y="905827"/>
            <a:ext cx="523811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dirty="0">
                <a:latin typeface="Times New Roman"/>
                <a:cs typeface="Times New Roman"/>
              </a:rPr>
              <a:t>BTech</a:t>
            </a:r>
            <a:r>
              <a:rPr sz="2000" b="1" spc="4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CV449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-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Major</a:t>
            </a:r>
            <a:r>
              <a:rPr sz="2000" b="1" spc="3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Project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–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</a:t>
            </a:r>
            <a:r>
              <a:rPr sz="2000" b="1" spc="434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Presentation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038225" y="1467802"/>
            <a:ext cx="991362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IN" sz="2400" dirty="0">
                <a:solidFill>
                  <a:schemeClr val="tx1"/>
                </a:solidFill>
              </a:rPr>
              <a:t>3D GEOLOGICAL CONCEPTUAL GROUNDWATER MODELLING USING GMS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6580" rIns="0" bIns="0" rtlCol="0">
            <a:spAutoFit/>
          </a:bodyPr>
          <a:lstStyle/>
          <a:p>
            <a:pPr marL="320675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F1F1F1"/>
                </a:solidFill>
              </a:rPr>
              <a:t>CONTENT</a:t>
            </a:r>
            <a:r>
              <a:rPr spc="-130" dirty="0">
                <a:solidFill>
                  <a:srgbClr val="F1F1F1"/>
                </a:solidFill>
              </a:rPr>
              <a:t> </a:t>
            </a:r>
            <a:r>
              <a:rPr spc="-50" dirty="0">
                <a:solidFill>
                  <a:srgbClr val="F1F1F1"/>
                </a:solidFill>
              </a:rPr>
              <a:t>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141075" y="6378892"/>
            <a:ext cx="141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8142" y="1013713"/>
            <a:ext cx="4355465" cy="38455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749300" indent="-736600">
              <a:lnSpc>
                <a:spcPct val="100000"/>
              </a:lnSpc>
              <a:spcBef>
                <a:spcPts val="130"/>
              </a:spcBef>
              <a:buFont typeface="Wingdings"/>
              <a:buChar char=""/>
              <a:tabLst>
                <a:tab pos="749300" algn="l"/>
              </a:tabLst>
            </a:pPr>
            <a:r>
              <a:rPr sz="2000" b="1" spc="-10" dirty="0">
                <a:latin typeface="Times New Roman"/>
                <a:cs typeface="Times New Roman"/>
              </a:rPr>
              <a:t>INTRODUCTION</a:t>
            </a:r>
            <a:endParaRPr sz="2000" dirty="0">
              <a:latin typeface="Times New Roman"/>
              <a:cs typeface="Times New Roman"/>
            </a:endParaRPr>
          </a:p>
          <a:p>
            <a:pPr marL="749300" indent="-736600">
              <a:lnSpc>
                <a:spcPct val="100000"/>
              </a:lnSpc>
              <a:spcBef>
                <a:spcPts val="2180"/>
              </a:spcBef>
              <a:buFont typeface="Wingdings"/>
              <a:buChar char=""/>
              <a:tabLst>
                <a:tab pos="749300" algn="l"/>
              </a:tabLst>
            </a:pPr>
            <a:r>
              <a:rPr sz="2000" b="1" spc="-10" dirty="0">
                <a:latin typeface="Times New Roman"/>
                <a:cs typeface="Times New Roman"/>
              </a:rPr>
              <a:t>LITERATURE</a:t>
            </a:r>
            <a:r>
              <a:rPr sz="2000" b="1" spc="-10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REVIEW</a:t>
            </a:r>
            <a:endParaRPr sz="2000" dirty="0">
              <a:latin typeface="Times New Roman"/>
              <a:cs typeface="Times New Roman"/>
            </a:endParaRPr>
          </a:p>
          <a:p>
            <a:pPr marL="749300" indent="-736600">
              <a:lnSpc>
                <a:spcPct val="100000"/>
              </a:lnSpc>
              <a:spcBef>
                <a:spcPts val="2255"/>
              </a:spcBef>
              <a:buFont typeface="Wingdings"/>
              <a:buChar char=""/>
              <a:tabLst>
                <a:tab pos="749300" algn="l"/>
              </a:tabLst>
            </a:pPr>
            <a:r>
              <a:rPr sz="2000" b="1" spc="-10" dirty="0">
                <a:latin typeface="Times New Roman"/>
                <a:cs typeface="Times New Roman"/>
              </a:rPr>
              <a:t>OBJECTIVES</a:t>
            </a:r>
            <a:endParaRPr sz="2000" dirty="0">
              <a:latin typeface="Times New Roman"/>
              <a:cs typeface="Times New Roman"/>
            </a:endParaRPr>
          </a:p>
          <a:p>
            <a:pPr marL="749300" indent="-736600">
              <a:lnSpc>
                <a:spcPct val="100000"/>
              </a:lnSpc>
              <a:spcBef>
                <a:spcPts val="2185"/>
              </a:spcBef>
              <a:buFont typeface="Wingdings"/>
              <a:buChar char=""/>
              <a:tabLst>
                <a:tab pos="749300" algn="l"/>
              </a:tabLst>
            </a:pPr>
            <a:r>
              <a:rPr sz="2000" b="1" spc="-20" dirty="0">
                <a:latin typeface="Times New Roman"/>
                <a:cs typeface="Times New Roman"/>
              </a:rPr>
              <a:t>STUDY</a:t>
            </a:r>
            <a:r>
              <a:rPr sz="2000" b="1" spc="-125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AREA</a:t>
            </a:r>
            <a:endParaRPr sz="2000" dirty="0">
              <a:latin typeface="Times New Roman"/>
              <a:cs typeface="Times New Roman"/>
            </a:endParaRPr>
          </a:p>
          <a:p>
            <a:pPr marL="749300" indent="-736600">
              <a:lnSpc>
                <a:spcPct val="100000"/>
              </a:lnSpc>
              <a:spcBef>
                <a:spcPts val="2180"/>
              </a:spcBef>
              <a:buFont typeface="Wingdings"/>
              <a:buChar char=""/>
              <a:tabLst>
                <a:tab pos="749300" algn="l"/>
              </a:tabLst>
            </a:pPr>
            <a:r>
              <a:rPr sz="2000" b="1" spc="-10" dirty="0">
                <a:latin typeface="Times New Roman"/>
                <a:cs typeface="Times New Roman"/>
              </a:rPr>
              <a:t>METHODOLOGY</a:t>
            </a:r>
            <a:endParaRPr sz="2000" dirty="0">
              <a:latin typeface="Times New Roman"/>
              <a:cs typeface="Times New Roman"/>
            </a:endParaRPr>
          </a:p>
          <a:p>
            <a:pPr marL="812800" indent="-800100">
              <a:lnSpc>
                <a:spcPct val="100000"/>
              </a:lnSpc>
              <a:spcBef>
                <a:spcPts val="2255"/>
              </a:spcBef>
              <a:buFont typeface="Wingdings"/>
              <a:buChar char=""/>
              <a:tabLst>
                <a:tab pos="812800" algn="l"/>
              </a:tabLst>
            </a:pPr>
            <a:r>
              <a:rPr sz="2000" b="1" spc="-35" dirty="0">
                <a:latin typeface="Times New Roman"/>
                <a:cs typeface="Times New Roman"/>
              </a:rPr>
              <a:t>RESULTS</a:t>
            </a:r>
            <a:r>
              <a:rPr sz="2000" b="1" spc="-1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CONCLUSION</a:t>
            </a:r>
            <a:endParaRPr sz="2000" dirty="0">
              <a:latin typeface="Times New Roman"/>
              <a:cs typeface="Times New Roman"/>
            </a:endParaRPr>
          </a:p>
          <a:p>
            <a:pPr marL="812800" indent="-800100">
              <a:lnSpc>
                <a:spcPct val="100000"/>
              </a:lnSpc>
              <a:spcBef>
                <a:spcPts val="2185"/>
              </a:spcBef>
              <a:buFont typeface="Wingdings"/>
              <a:buChar char=""/>
              <a:tabLst>
                <a:tab pos="812800" algn="l"/>
              </a:tabLst>
            </a:pPr>
            <a:r>
              <a:rPr sz="2000" b="1" spc="-10" dirty="0">
                <a:latin typeface="Times New Roman"/>
                <a:cs typeface="Times New Roman"/>
              </a:rPr>
              <a:t>REFERENCES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9402" y="1077849"/>
            <a:ext cx="5796598" cy="524887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Groundwater is the most reliable water source in semi-arid regions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Groundwater occurs mainly in fractures and weathered hard-rock zones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Agriculture depends heavily on groundwater for year-round irrigation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Over-extraction + low recharge are causing rapid groundwater decline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Hard-rock aquifers store water only in fractures, not continuous layers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 conceptual modelling is needed to understand fracture-controlled aquifers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179175" y="6434454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88888"/>
                </a:solidFill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71475">
              <a:lnSpc>
                <a:spcPct val="100000"/>
              </a:lnSpc>
              <a:spcBef>
                <a:spcPts val="105"/>
              </a:spcBef>
            </a:pPr>
            <a:r>
              <a:rPr dirty="0"/>
              <a:t>INTRODUCTION</a:t>
            </a:r>
            <a:r>
              <a:rPr spc="-85" dirty="0"/>
              <a:t> </a:t>
            </a:r>
            <a:r>
              <a:rPr spc="-50" dirty="0"/>
              <a:t>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64F235-905C-745A-B84E-A13FAB48F5AA}"/>
              </a:ext>
            </a:extLst>
          </p:cNvPr>
          <p:cNvSpPr txBox="1"/>
          <p:nvPr/>
        </p:nvSpPr>
        <p:spPr>
          <a:xfrm>
            <a:off x="6705601" y="4563070"/>
            <a:ext cx="53296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/>
                <a:cs typeface="Times New Roman"/>
              </a:rPr>
              <a:t>Source:</a:t>
            </a:r>
            <a:r>
              <a:rPr lang="en-US" sz="1800" spc="-40" dirty="0">
                <a:latin typeface="Times New Roman"/>
                <a:cs typeface="Times New Roman"/>
              </a:rPr>
              <a:t> </a:t>
            </a:r>
            <a:r>
              <a:rPr lang="en-US" sz="1800" i="1" dirty="0">
                <a:latin typeface="Times New Roman"/>
                <a:cs typeface="Times New Roman"/>
              </a:rPr>
              <a:t>*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Modified from Freeze and Cherry, 1979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8" name="Picture 7" descr="Generalized groundwater flow in a fractured-rock aquifer">
            <a:extLst>
              <a:ext uri="{FF2B5EF4-FFF2-40B4-BE49-F238E27FC236}">
                <a16:creationId xmlns:a16="http://schemas.microsoft.com/office/drawing/2014/main" id="{6CB8BFBB-419B-3FF8-D4D0-430DCD8B783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1054" y="1219200"/>
            <a:ext cx="5329612" cy="32080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0" y="682371"/>
            <a:ext cx="12192000" cy="4575429"/>
            <a:chOff x="143040" y="805561"/>
            <a:chExt cx="11899265" cy="555434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9390" y="811911"/>
              <a:ext cx="11887161" cy="119062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3040" y="2004949"/>
              <a:ext cx="11899265" cy="0"/>
            </a:xfrm>
            <a:custGeom>
              <a:avLst/>
              <a:gdLst/>
              <a:ahLst/>
              <a:cxnLst/>
              <a:rect l="l" t="t" r="r" b="b"/>
              <a:pathLst>
                <a:path w="11899265">
                  <a:moveTo>
                    <a:pt x="0" y="0"/>
                  </a:moveTo>
                  <a:lnTo>
                    <a:pt x="11899099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43040" y="805561"/>
              <a:ext cx="11899265" cy="5554345"/>
            </a:xfrm>
            <a:custGeom>
              <a:avLst/>
              <a:gdLst/>
              <a:ahLst/>
              <a:cxnLst/>
              <a:rect l="l" t="t" r="r" b="b"/>
              <a:pathLst>
                <a:path w="11899265" h="5554345">
                  <a:moveTo>
                    <a:pt x="6350" y="0"/>
                  </a:moveTo>
                  <a:lnTo>
                    <a:pt x="6350" y="5554179"/>
                  </a:lnTo>
                </a:path>
                <a:path w="11899265" h="5554345">
                  <a:moveTo>
                    <a:pt x="11892749" y="0"/>
                  </a:moveTo>
                  <a:lnTo>
                    <a:pt x="11892749" y="5554179"/>
                  </a:lnTo>
                </a:path>
                <a:path w="11899265" h="5554345">
                  <a:moveTo>
                    <a:pt x="0" y="6350"/>
                  </a:moveTo>
                  <a:lnTo>
                    <a:pt x="11899099" y="635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744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LITERATURE</a:t>
            </a:r>
            <a:r>
              <a:rPr spc="-145" dirty="0"/>
              <a:t> </a:t>
            </a:r>
            <a:r>
              <a:rPr dirty="0"/>
              <a:t>REVIEW</a:t>
            </a:r>
            <a:r>
              <a:rPr spc="-200" dirty="0"/>
              <a:t> </a:t>
            </a:r>
            <a:r>
              <a:rPr spc="-50" dirty="0"/>
              <a:t>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624056" y="6476047"/>
            <a:ext cx="141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Calibri"/>
                <a:cs typeface="Calibri"/>
              </a:rPr>
              <a:t>5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5648256"/>
              </p:ext>
            </p:extLst>
          </p:nvPr>
        </p:nvGraphicFramePr>
        <p:xfrm>
          <a:off x="10442" y="717322"/>
          <a:ext cx="12175052" cy="56834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59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51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97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402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0321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  <a:p>
                      <a:pPr marL="4222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Author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  <a:p>
                      <a:pPr marL="635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Title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15265" marR="195580" indent="208279">
                        <a:lnSpc>
                          <a:spcPct val="139100"/>
                        </a:lnSpc>
                        <a:spcBef>
                          <a:spcPts val="965"/>
                        </a:spcBef>
                      </a:pPr>
                      <a:r>
                        <a:rPr sz="1800" b="1" spc="-30" dirty="0">
                          <a:latin typeface="Times New Roman"/>
                          <a:cs typeface="Times New Roman"/>
                        </a:rPr>
                        <a:t>Year</a:t>
                      </a:r>
                      <a:r>
                        <a:rPr sz="1800" b="1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Publication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25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  <a:p>
                      <a:pPr marL="9525" algn="ct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Key</a:t>
                      </a:r>
                      <a:r>
                        <a:rPr sz="18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Conclusion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endParaRPr sz="2000" dirty="0">
                        <a:latin typeface="Times New Roman"/>
                        <a:cs typeface="Times New Roman"/>
                      </a:endParaRPr>
                    </a:p>
                    <a:p>
                      <a:pPr marL="97790">
                        <a:lnSpc>
                          <a:spcPct val="100000"/>
                        </a:lnSpc>
                      </a:pPr>
                      <a:r>
                        <a:rPr lang="en-IN" sz="2000" dirty="0"/>
                        <a:t>Marechal et al. (2020)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52705" marB="0"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ts val="1500"/>
                        </a:lnSpc>
                      </a:pPr>
                      <a:endParaRPr lang="en-US" sz="2000" dirty="0"/>
                    </a:p>
                    <a:p>
                      <a:pPr marL="92710">
                        <a:lnSpc>
                          <a:spcPts val="1500"/>
                        </a:lnSpc>
                      </a:pPr>
                      <a:endParaRPr lang="en-US" sz="2000" dirty="0"/>
                    </a:p>
                    <a:p>
                      <a:pPr marL="92710">
                        <a:lnSpc>
                          <a:spcPts val="1500"/>
                        </a:lnSpc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Structure of Hard-Rock Aquifers</a:t>
                      </a: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065"/>
                        </a:spcBef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2020</a:t>
                      </a: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2622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Groundwater stored mainly in fractures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Three-layer aquifer system identified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Flow controlled by fracture geometry</a:t>
                      </a:r>
                    </a:p>
                    <a:p>
                      <a:pPr marL="97155" indent="0">
                        <a:lnSpc>
                          <a:spcPct val="100000"/>
                        </a:lnSpc>
                        <a:spcBef>
                          <a:spcPts val="2085"/>
                        </a:spcBef>
                        <a:buSzPct val="77500"/>
                        <a:buFont typeface="Arial" panose="020B0604020202020204" pitchFamily="34" charset="0"/>
                        <a:buNone/>
                        <a:tabLst>
                          <a:tab pos="295275" algn="l"/>
                        </a:tabLst>
                      </a:pP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264795" marB="0">
                    <a:lnL w="12700">
                      <a:solidFill>
                        <a:srgbClr val="FFFFFF"/>
                      </a:solidFill>
                      <a:prstDash val="solid"/>
                    </a:lnL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03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 dirty="0">
                        <a:latin typeface="Times New Roman"/>
                        <a:cs typeface="Times New Roman"/>
                      </a:endParaRPr>
                    </a:p>
                    <a:p>
                      <a:pPr marL="97790">
                        <a:lnSpc>
                          <a:spcPts val="1950"/>
                        </a:lnSpc>
                      </a:pP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Dewandel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</a:t>
                      </a: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lang="en-IN" sz="2000" dirty="0"/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en-IN" sz="2000" dirty="0"/>
                        <a:t> 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Fracture Distribution in Crystalline 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Rocks</a:t>
                      </a: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440"/>
                        </a:spcBef>
                      </a:pPr>
                      <a:endParaRPr sz="2000" dirty="0">
                        <a:latin typeface="Times New Roman"/>
                        <a:cs typeface="Times New Roman"/>
                      </a:endParaRPr>
                    </a:p>
                    <a:p>
                      <a:pPr marL="9588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2012</a:t>
                      </a: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Vertical fractures control transmissivity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Productivity increases with fracture depth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Hard-rock systems highly heterogeneous</a:t>
                      </a: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9343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Central Ground Water Board</a:t>
                      </a: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Groundwater Resources of    Chamarajanagar–Mysuru Region</a:t>
                      </a: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2000" dirty="0">
                          <a:latin typeface="Times New Roman"/>
                          <a:cs typeface="Times New Roman"/>
                        </a:rPr>
                        <a:t> 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2000" dirty="0">
                          <a:latin typeface="Times New Roman"/>
                          <a:cs typeface="Times New Roman"/>
                        </a:rPr>
                        <a:t>  2012</a:t>
                      </a:r>
                      <a:endParaRPr sz="2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Low-storage crystalline aquifers dominate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Rapid decline under heavy pumping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Recharge limited in hard-rock areas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79175" y="6434454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88888"/>
                </a:solidFill>
                <a:latin typeface="Calibri"/>
                <a:cs typeface="Calibri"/>
              </a:rPr>
              <a:t>6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86994" y="767080"/>
            <a:ext cx="11839575" cy="5659755"/>
            <a:chOff x="186994" y="767080"/>
            <a:chExt cx="11839575" cy="565975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3344" y="773430"/>
              <a:ext cx="11829999" cy="108585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86994" y="1862455"/>
              <a:ext cx="11839575" cy="0"/>
            </a:xfrm>
            <a:custGeom>
              <a:avLst/>
              <a:gdLst/>
              <a:ahLst/>
              <a:cxnLst/>
              <a:rect l="l" t="t" r="r" b="b"/>
              <a:pathLst>
                <a:path w="11839575">
                  <a:moveTo>
                    <a:pt x="0" y="0"/>
                  </a:moveTo>
                  <a:lnTo>
                    <a:pt x="11839016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86994" y="767080"/>
              <a:ext cx="11839575" cy="5659755"/>
            </a:xfrm>
            <a:custGeom>
              <a:avLst/>
              <a:gdLst/>
              <a:ahLst/>
              <a:cxnLst/>
              <a:rect l="l" t="t" r="r" b="b"/>
              <a:pathLst>
                <a:path w="11839575" h="5659755">
                  <a:moveTo>
                    <a:pt x="6350" y="0"/>
                  </a:moveTo>
                  <a:lnTo>
                    <a:pt x="6350" y="5659374"/>
                  </a:lnTo>
                </a:path>
                <a:path w="11839575" h="5659755">
                  <a:moveTo>
                    <a:pt x="11832666" y="0"/>
                  </a:moveTo>
                  <a:lnTo>
                    <a:pt x="11832666" y="5659374"/>
                  </a:lnTo>
                </a:path>
                <a:path w="11839575" h="5659755">
                  <a:moveTo>
                    <a:pt x="0" y="6350"/>
                  </a:moveTo>
                  <a:lnTo>
                    <a:pt x="11839016" y="635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4873790"/>
              </p:ext>
            </p:extLst>
          </p:nvPr>
        </p:nvGraphicFramePr>
        <p:xfrm>
          <a:off x="186994" y="760730"/>
          <a:ext cx="11928806" cy="56527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617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710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953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7620" algn="ctr">
                        <a:lnSpc>
                          <a:spcPct val="100000"/>
                        </a:lnSpc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Author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350" algn="ctr">
                        <a:lnSpc>
                          <a:spcPct val="100000"/>
                        </a:lnSpc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Title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43535" marR="325755" indent="208279">
                        <a:lnSpc>
                          <a:spcPct val="139000"/>
                        </a:lnSpc>
                        <a:spcBef>
                          <a:spcPts val="560"/>
                        </a:spcBef>
                      </a:pPr>
                      <a:r>
                        <a:rPr sz="1800" b="1" spc="-40" dirty="0">
                          <a:latin typeface="Times New Roman"/>
                          <a:cs typeface="Times New Roman"/>
                        </a:rPr>
                        <a:t>Year</a:t>
                      </a: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Publication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11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0160" algn="ct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Key</a:t>
                      </a:r>
                      <a:r>
                        <a:rPr sz="18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Conclusion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42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endParaRPr sz="2000" dirty="0">
                        <a:latin typeface="Times New Roman"/>
                        <a:cs typeface="Times New Roman"/>
                      </a:endParaRPr>
                    </a:p>
                    <a:p>
                      <a:pPr marL="12700" algn="ctr">
                        <a:lnSpc>
                          <a:spcPct val="100000"/>
                        </a:lnSpc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Atal </a:t>
                      </a: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Bhujal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Yojana</a:t>
                      </a: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55"/>
                        </a:spcBef>
                      </a:pPr>
                      <a:endParaRPr sz="2000" dirty="0">
                        <a:latin typeface="Times New Roman"/>
                        <a:cs typeface="Times New Roman"/>
                      </a:endParaRPr>
                    </a:p>
                    <a:p>
                      <a:pPr marL="245745" marR="222885" algn="ctr">
                        <a:lnSpc>
                          <a:spcPct val="90800"/>
                        </a:lnSpc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Hydrogeology Assessment – Karnataka</a:t>
                      </a: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974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endParaRPr sz="2000" dirty="0">
                        <a:latin typeface="Times New Roman"/>
                        <a:cs typeface="Times New Roman"/>
                      </a:endParaRPr>
                    </a:p>
                    <a:p>
                      <a:pPr marL="16510" algn="ctr">
                        <a:lnSpc>
                          <a:spcPct val="100000"/>
                        </a:lnSpc>
                      </a:pPr>
                      <a:r>
                        <a:rPr sz="2000" spc="-20" dirty="0">
                          <a:latin typeface="Calibri"/>
                          <a:cs typeface="Calibri"/>
                        </a:rPr>
                        <a:t>20</a:t>
                      </a:r>
                      <a:r>
                        <a:rPr lang="en-US" sz="2000" spc="-20" dirty="0">
                          <a:latin typeface="Calibri"/>
                          <a:cs typeface="Calibri"/>
                        </a:rPr>
                        <a:t>23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lang="en-US" sz="2000" dirty="0">
                          <a:latin typeface="Times New Roman"/>
                          <a:cs typeface="Times New Roman"/>
                        </a:rPr>
                        <a:t> 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Hard-rock zones show stressed levels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Borewell dependence increasing    yearly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Recharge structures urgently required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endParaRPr sz="2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1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endParaRPr lang="en-US" sz="20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lang="en-IN" sz="20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Various (IISc / International studies)</a:t>
                      </a: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29845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endParaRPr lang="en-US" sz="2000" dirty="0">
                        <a:latin typeface="Times New Roman"/>
                        <a:cs typeface="Times New Roman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49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Fracture Connectivity in Crystalline Terrains</a:t>
                      </a:r>
                      <a:endParaRPr lang="it-IT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endParaRPr sz="2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22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35"/>
                        </a:spcBef>
                      </a:pPr>
                      <a:endParaRPr sz="2000" dirty="0">
                        <a:latin typeface="Times New Roman"/>
                        <a:cs typeface="Times New Roman"/>
                      </a:endParaRPr>
                    </a:p>
                    <a:p>
                      <a:pPr marL="16510" algn="ctr">
                        <a:lnSpc>
                          <a:spcPct val="100000"/>
                        </a:lnSpc>
                      </a:pPr>
                      <a:r>
                        <a:rPr lang="en-IN" sz="2000" dirty="0"/>
                        <a:t>2015–2020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220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Fracture continuity controls yields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fractures often isolated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Geometry essential for modelling</a:t>
                      </a:r>
                    </a:p>
                  </a:txBody>
                  <a:tcPr marL="0" marR="0" marT="178435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2046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LITERATURE</a:t>
            </a:r>
            <a:r>
              <a:rPr spc="-100" dirty="0"/>
              <a:t> </a:t>
            </a:r>
            <a:r>
              <a:rPr dirty="0"/>
              <a:t>REVIEW</a:t>
            </a:r>
            <a:r>
              <a:rPr spc="-165" dirty="0"/>
              <a:t> </a:t>
            </a:r>
            <a:r>
              <a:rPr spc="-50" dirty="0"/>
              <a:t>: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1624056" y="6486207"/>
            <a:ext cx="141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Calibri"/>
                <a:cs typeface="Calibri"/>
              </a:rPr>
              <a:t>6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8170" rIns="0" bIns="0" rtlCol="0">
            <a:spAutoFit/>
          </a:bodyPr>
          <a:lstStyle/>
          <a:p>
            <a:pPr marL="142875">
              <a:lnSpc>
                <a:spcPct val="100000"/>
              </a:lnSpc>
              <a:spcBef>
                <a:spcPts val="105"/>
              </a:spcBef>
            </a:pPr>
            <a:r>
              <a:rPr dirty="0"/>
              <a:t>OBJECTIVES</a:t>
            </a:r>
            <a:r>
              <a:rPr spc="-165" dirty="0"/>
              <a:t> </a:t>
            </a:r>
            <a:r>
              <a:rPr spc="-50" dirty="0"/>
              <a:t>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634469" y="6342539"/>
            <a:ext cx="141605" cy="30543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1" spc="-50" dirty="0">
                <a:latin typeface="Calibri"/>
                <a:cs typeface="Calibri"/>
              </a:rPr>
              <a:t>7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56577" y="1010856"/>
            <a:ext cx="11219497" cy="52786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25099"/>
              </a:lnSpc>
              <a:spcBef>
                <a:spcPts val="100"/>
              </a:spcBef>
              <a:buSzPct val="97916"/>
              <a:buFont typeface="Arial" panose="020B0604020202020204" pitchFamily="34" charset="0"/>
              <a:buChar char="•"/>
              <a:tabLst>
                <a:tab pos="393700" algn="l"/>
                <a:tab pos="1836420" algn="l"/>
              </a:tabLst>
            </a:pPr>
            <a:r>
              <a:rPr lang="en-US" sz="2800" dirty="0"/>
              <a:t>Understand groundwater importance, depletion, and hydrogeology in the semi-arid </a:t>
            </a:r>
            <a:r>
              <a:rPr lang="en-US" sz="2800" dirty="0" err="1"/>
              <a:t>Gundlu</a:t>
            </a:r>
            <a:r>
              <a:rPr lang="en-US" sz="2800" dirty="0"/>
              <a:t> Basin</a:t>
            </a:r>
          </a:p>
          <a:p>
            <a:pPr marL="355600" marR="5080" indent="-342900">
              <a:lnSpc>
                <a:spcPct val="125099"/>
              </a:lnSpc>
              <a:spcBef>
                <a:spcPts val="100"/>
              </a:spcBef>
              <a:buSzPct val="97916"/>
              <a:buFont typeface="Arial" panose="020B0604020202020204" pitchFamily="34" charset="0"/>
              <a:buChar char="•"/>
              <a:tabLst>
                <a:tab pos="393700" algn="l"/>
                <a:tab pos="1836420" algn="l"/>
              </a:tabLst>
            </a:pPr>
            <a:endParaRPr lang="en-US" sz="2800" dirty="0"/>
          </a:p>
          <a:p>
            <a:pPr marL="355600" marR="5080" indent="-342900">
              <a:lnSpc>
                <a:spcPct val="125099"/>
              </a:lnSpc>
              <a:spcBef>
                <a:spcPts val="100"/>
              </a:spcBef>
              <a:buSzPct val="97916"/>
              <a:buFont typeface="Arial" panose="020B0604020202020204" pitchFamily="34" charset="0"/>
              <a:buChar char="•"/>
              <a:tabLst>
                <a:tab pos="393700" algn="l"/>
                <a:tab pos="1836420" algn="l"/>
              </a:tabLst>
            </a:pPr>
            <a:r>
              <a:rPr lang="en-US" sz="2800" dirty="0"/>
              <a:t>Support sustainable drilling, recharge, and water-use planning through scientific modelling</a:t>
            </a:r>
          </a:p>
          <a:p>
            <a:pPr marL="12700" marR="5080">
              <a:lnSpc>
                <a:spcPct val="125099"/>
              </a:lnSpc>
              <a:spcBef>
                <a:spcPts val="100"/>
              </a:spcBef>
              <a:buSzPct val="97916"/>
              <a:tabLst>
                <a:tab pos="393700" algn="l"/>
                <a:tab pos="1836420" algn="l"/>
              </a:tabLst>
            </a:pPr>
            <a:endParaRPr lang="en-IN" sz="2800" dirty="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25099"/>
              </a:lnSpc>
              <a:spcBef>
                <a:spcPts val="100"/>
              </a:spcBef>
              <a:buSzPct val="97916"/>
              <a:buFont typeface="Arial" panose="020B0604020202020204" pitchFamily="34" charset="0"/>
              <a:buChar char="•"/>
              <a:tabLst>
                <a:tab pos="393700" algn="l"/>
                <a:tab pos="1836420" algn="l"/>
              </a:tabLst>
            </a:pPr>
            <a:r>
              <a:rPr lang="en-US" sz="2800" dirty="0"/>
              <a:t>Develop a 3D conceptual groundwater model using GMS for mapping subsurface layers and guiding sustainable management</a:t>
            </a:r>
            <a:endParaRPr lang="en-US" sz="2800" dirty="0">
              <a:latin typeface="Times New Roman"/>
              <a:cs typeface="Times New Roman"/>
            </a:endParaRPr>
          </a:p>
          <a:p>
            <a:pPr marL="325755" marR="5080" indent="-313055">
              <a:lnSpc>
                <a:spcPct val="125099"/>
              </a:lnSpc>
              <a:spcBef>
                <a:spcPts val="100"/>
              </a:spcBef>
              <a:buSzPct val="97916"/>
              <a:buFont typeface="Wingdings"/>
              <a:buChar char=""/>
              <a:tabLst>
                <a:tab pos="393700" algn="l"/>
                <a:tab pos="1836420" algn="l"/>
              </a:tabLst>
            </a:pPr>
            <a:endParaRPr lang="en-US" sz="2400" dirty="0">
              <a:latin typeface="Times New Roman"/>
              <a:cs typeface="Times New Roman"/>
            </a:endParaRPr>
          </a:p>
          <a:p>
            <a:pPr marL="325755" marR="5080" indent="-313055">
              <a:lnSpc>
                <a:spcPct val="125099"/>
              </a:lnSpc>
              <a:spcBef>
                <a:spcPts val="100"/>
              </a:spcBef>
              <a:buSzPct val="97916"/>
              <a:buFont typeface="Wingdings"/>
              <a:buChar char=""/>
              <a:tabLst>
                <a:tab pos="393700" algn="l"/>
                <a:tab pos="1836420" algn="l"/>
              </a:tabLst>
            </a:pP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67050" y="666747"/>
            <a:ext cx="9124950" cy="615149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874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STUDY</a:t>
            </a:r>
            <a:r>
              <a:rPr spc="-340" dirty="0"/>
              <a:t> </a:t>
            </a:r>
            <a:r>
              <a:rPr dirty="0"/>
              <a:t>AREA</a:t>
            </a:r>
            <a:r>
              <a:rPr spc="-185" dirty="0"/>
              <a:t> </a:t>
            </a:r>
            <a:r>
              <a:rPr spc="-20" dirty="0"/>
              <a:t>MAP: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795506" y="6414928"/>
            <a:ext cx="141605" cy="30543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1" spc="-50" dirty="0">
                <a:latin typeface="Calibri"/>
                <a:cs typeface="Calibri"/>
              </a:rPr>
              <a:t>8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1292" y="1083627"/>
            <a:ext cx="2664460" cy="530491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dirty="0">
                <a:solidFill>
                  <a:srgbClr val="C55A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Gundlu</a:t>
            </a:r>
            <a:r>
              <a:rPr sz="2000" b="1" spc="-5" dirty="0">
                <a:solidFill>
                  <a:srgbClr val="C55A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0" dirty="0">
                <a:solidFill>
                  <a:srgbClr val="C55A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Sub-Basin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indent="-342265">
              <a:lnSpc>
                <a:spcPct val="100000"/>
              </a:lnSpc>
              <a:spcBef>
                <a:spcPts val="2235"/>
              </a:spcBef>
              <a:buFont typeface="Wingdings"/>
              <a:buChar char=""/>
              <a:tabLst>
                <a:tab pos="354965" algn="l"/>
              </a:tabLst>
            </a:pPr>
            <a:r>
              <a:rPr sz="1800" b="1" spc="-1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Tributary</a:t>
            </a:r>
            <a:r>
              <a:rPr sz="1800" b="1" spc="-3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800" b="1" spc="-35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Kabini</a:t>
            </a:r>
            <a:r>
              <a:rPr sz="1800" b="1" spc="5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spc="-2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River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indent="-342265">
              <a:lnSpc>
                <a:spcPct val="100000"/>
              </a:lnSpc>
              <a:spcBef>
                <a:spcPts val="1370"/>
              </a:spcBef>
              <a:buFont typeface="Wingdings"/>
              <a:buChar char=""/>
              <a:tabLst>
                <a:tab pos="354965" algn="l"/>
              </a:tabLst>
            </a:pPr>
            <a:r>
              <a:rPr sz="1800" b="1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Basin</a:t>
            </a:r>
            <a:r>
              <a:rPr sz="1800" b="1" spc="-25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Area</a:t>
            </a:r>
            <a:r>
              <a:rPr sz="1800" b="1" spc="-25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1800" b="1" spc="-5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1,270</a:t>
            </a:r>
            <a:r>
              <a:rPr sz="1800" b="1" spc="3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spc="-25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km²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503555" indent="-342900">
              <a:lnSpc>
                <a:spcPts val="3229"/>
              </a:lnSpc>
              <a:spcBef>
                <a:spcPts val="280"/>
              </a:spcBef>
              <a:buFont typeface="Wingdings"/>
              <a:buChar char=""/>
              <a:tabLst>
                <a:tab pos="355600" algn="l"/>
              </a:tabLst>
            </a:pPr>
            <a:r>
              <a:rPr sz="1800" b="1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Annual</a:t>
            </a:r>
            <a:r>
              <a:rPr sz="1800" b="1" spc="-4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</a:t>
            </a:r>
            <a:r>
              <a:rPr sz="1800" b="1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Rainfall</a:t>
            </a:r>
            <a:r>
              <a:rPr sz="1800" b="1" spc="-5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(~600</a:t>
            </a:r>
            <a:r>
              <a:rPr sz="1800" b="1" spc="-1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spc="-25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mm)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indent="-342265">
              <a:lnSpc>
                <a:spcPct val="100000"/>
              </a:lnSpc>
              <a:spcBef>
                <a:spcPts val="860"/>
              </a:spcBef>
              <a:buFont typeface="Wingdings"/>
              <a:buChar char=""/>
              <a:tabLst>
                <a:tab pos="354965" algn="l"/>
              </a:tabLst>
            </a:pPr>
            <a:r>
              <a:rPr sz="1800" b="1" spc="-1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Semi-</a:t>
            </a:r>
            <a:r>
              <a:rPr sz="1800" b="1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Arid</a:t>
            </a:r>
            <a:r>
              <a:rPr sz="1800" b="1" spc="-15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region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86995" indent="-342900">
              <a:lnSpc>
                <a:spcPct val="149500"/>
              </a:lnSpc>
              <a:buFont typeface="Wingdings"/>
              <a:buChar char=""/>
              <a:tabLst>
                <a:tab pos="355600" algn="l"/>
              </a:tabLst>
            </a:pPr>
            <a:r>
              <a:rPr sz="1800" b="1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Irrigation</a:t>
            </a:r>
            <a:r>
              <a:rPr sz="1800" b="1" spc="-75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sz="1800" b="1" spc="-35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Rainfall</a:t>
            </a:r>
            <a:r>
              <a:rPr sz="1800" b="1" spc="-7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spc="-25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1800" b="1" spc="-1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groundwater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353695" indent="-342900">
              <a:lnSpc>
                <a:spcPts val="3229"/>
              </a:lnSpc>
              <a:spcBef>
                <a:spcPts val="100"/>
              </a:spcBef>
              <a:buFont typeface="Wingdings"/>
              <a:buChar char=""/>
              <a:tabLst>
                <a:tab pos="355600" algn="l"/>
              </a:tabLst>
            </a:pPr>
            <a:r>
              <a:rPr sz="1800" b="1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Significant</a:t>
            </a:r>
            <a:r>
              <a:rPr sz="1800" b="1" spc="-4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decline</a:t>
            </a:r>
            <a:r>
              <a:rPr sz="1800" b="1" spc="-2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spc="-25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sz="1800" b="1" spc="-1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groundwater</a:t>
            </a:r>
            <a:r>
              <a:rPr sz="1800" b="1" spc="-4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levels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1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45" dirty="0"/>
              <a:t>DATA</a:t>
            </a:r>
            <a:r>
              <a:rPr spc="-195" dirty="0"/>
              <a:t> </a:t>
            </a:r>
            <a:r>
              <a:rPr dirty="0"/>
              <a:t>SETS</a:t>
            </a:r>
            <a:r>
              <a:rPr spc="30" dirty="0"/>
              <a:t> </a:t>
            </a:r>
            <a:r>
              <a:rPr spc="-50" dirty="0"/>
              <a:t>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424284" y="6033294"/>
            <a:ext cx="141605" cy="30543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1" spc="-50" dirty="0">
                <a:latin typeface="Calibri"/>
                <a:cs typeface="Calibri"/>
              </a:rPr>
              <a:t>9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5992260"/>
              </p:ext>
            </p:extLst>
          </p:nvPr>
        </p:nvGraphicFramePr>
        <p:xfrm>
          <a:off x="266611" y="880744"/>
          <a:ext cx="11655425" cy="46824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83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363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2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28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61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SI.No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/ Parameter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Source / Agency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Resolution / Scale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61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Borewell Locations (Lat/Long)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Local Borewell Drillers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Point data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9622545"/>
                  </a:ext>
                </a:extLst>
              </a:tr>
              <a:tr h="6261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Casing Pipe Elevation (CP)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Local Borewell Drillers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Borehole-specific (meter depth)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0709971"/>
                  </a:ext>
                </a:extLst>
              </a:tr>
              <a:tr h="6261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First Fracture Depth (FWD)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Local Borewell Drillers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20–40 m (typical range)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8635756"/>
                  </a:ext>
                </a:extLst>
              </a:tr>
              <a:tr h="6261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Second Fracture Depth (SWD)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Local Borewell Drillers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50–80 m (typical range)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7521384"/>
                  </a:ext>
                </a:extLst>
              </a:tr>
              <a:tr h="6261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Shapefile – Basin Boundary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GIS / Govt. Database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Vector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533945"/>
                  </a:ext>
                </a:extLst>
              </a:tr>
              <a:tr h="6261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Digital Elevation Model (DEM)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Remote Sensing (SRTM/ASTER)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 m or 12.5 m resolution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922094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1101451" y="6434454"/>
            <a:ext cx="177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11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0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METHODOLOGY</a:t>
            </a:r>
            <a:r>
              <a:rPr spc="-155" dirty="0"/>
              <a:t> </a:t>
            </a:r>
            <a:r>
              <a:rPr spc="-50" dirty="0"/>
              <a:t>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2422E3-3CD5-AB07-C020-203BC6483C4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1235" y="990600"/>
            <a:ext cx="3581400" cy="5372498"/>
          </a:xfrm>
          <a:prstGeom prst="rect">
            <a:avLst/>
          </a:prstGeom>
          <a:noFill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004BCAE-7107-DCE4-ABD8-24A3788115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1295400"/>
            <a:ext cx="5878758" cy="40250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5125">
              <a:lnSpc>
                <a:spcPct val="100000"/>
              </a:lnSpc>
              <a:spcBef>
                <a:spcPts val="105"/>
              </a:spcBef>
            </a:pPr>
            <a:r>
              <a:rPr spc="-50" dirty="0"/>
              <a:t>RESULTS</a:t>
            </a:r>
            <a:r>
              <a:rPr spc="-215" dirty="0"/>
              <a:t> </a:t>
            </a:r>
            <a:r>
              <a:rPr dirty="0"/>
              <a:t>AND</a:t>
            </a:r>
            <a:r>
              <a:rPr spc="-60" dirty="0"/>
              <a:t> </a:t>
            </a:r>
            <a:r>
              <a:rPr dirty="0"/>
              <a:t>DISCUSSION</a:t>
            </a:r>
            <a:r>
              <a:rPr spc="-20" dirty="0"/>
              <a:t> </a:t>
            </a:r>
            <a:r>
              <a:rPr spc="-50" dirty="0"/>
              <a:t>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607165" y="6342539"/>
            <a:ext cx="254635" cy="30543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1" spc="-25" dirty="0">
                <a:latin typeface="Calibri"/>
                <a:cs typeface="Calibri"/>
              </a:rPr>
              <a:t>14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7323E6-E100-9BD5-092F-B4AC7BFB22A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30" t="9275" r="10366" b="16484"/>
          <a:stretch>
            <a:fillRect/>
          </a:stretch>
        </p:blipFill>
        <p:spPr bwMode="auto">
          <a:xfrm>
            <a:off x="685800" y="1371600"/>
            <a:ext cx="4733925" cy="281495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0CE94EF-1120-028B-3177-096B767BE9B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9725" y="1325284"/>
            <a:ext cx="6315075" cy="355151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5D6C9CF-5F00-D836-ECD6-0912A9EF0BF9}"/>
              </a:ext>
            </a:extLst>
          </p:cNvPr>
          <p:cNvSpPr txBox="1"/>
          <p:nvPr/>
        </p:nvSpPr>
        <p:spPr>
          <a:xfrm>
            <a:off x="762000" y="4542141"/>
            <a:ext cx="39901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 Geological conceptual Modelling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1D81A7-2230-6D38-3BF6-D9052FF4A81F}"/>
              </a:ext>
            </a:extLst>
          </p:cNvPr>
          <p:cNvSpPr txBox="1"/>
          <p:nvPr/>
        </p:nvSpPr>
        <p:spPr>
          <a:xfrm>
            <a:off x="7848600" y="4542141"/>
            <a:ext cx="17572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Fence Diagram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4010">
              <a:lnSpc>
                <a:spcPct val="100000"/>
              </a:lnSpc>
              <a:spcBef>
                <a:spcPts val="105"/>
              </a:spcBef>
            </a:pPr>
            <a:r>
              <a:rPr spc="-50" dirty="0"/>
              <a:t>RESULTS</a:t>
            </a:r>
            <a:r>
              <a:rPr spc="-215" dirty="0"/>
              <a:t> </a:t>
            </a:r>
            <a:r>
              <a:rPr dirty="0"/>
              <a:t>AND</a:t>
            </a:r>
            <a:r>
              <a:rPr spc="-65" dirty="0"/>
              <a:t> </a:t>
            </a:r>
            <a:r>
              <a:rPr dirty="0"/>
              <a:t>DISCUSSION</a:t>
            </a:r>
            <a:r>
              <a:rPr spc="-25" dirty="0"/>
              <a:t> </a:t>
            </a:r>
            <a:r>
              <a:rPr spc="-50" dirty="0"/>
              <a:t>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607165" y="6414928"/>
            <a:ext cx="254635" cy="30543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1" spc="-25" dirty="0">
                <a:latin typeface="Calibri"/>
                <a:cs typeface="Calibri"/>
              </a:rPr>
              <a:t>15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E4968E1-BFEB-EDC1-5D10-EBAF9737EB8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364"/>
          <a:stretch>
            <a:fillRect/>
          </a:stretch>
        </p:blipFill>
        <p:spPr bwMode="auto">
          <a:xfrm>
            <a:off x="511173" y="915916"/>
            <a:ext cx="5895975" cy="274002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5799E01-C5EA-0A1A-F4C8-3005A6D04B0C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13" b="17685"/>
          <a:stretch>
            <a:fillRect/>
          </a:stretch>
        </p:blipFill>
        <p:spPr bwMode="auto">
          <a:xfrm>
            <a:off x="5029200" y="3488532"/>
            <a:ext cx="6491337" cy="2453552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D4385A8-2AFD-4651-D391-48F0E12489D4}"/>
              </a:ext>
            </a:extLst>
          </p:cNvPr>
          <p:cNvSpPr txBox="1"/>
          <p:nvPr/>
        </p:nvSpPr>
        <p:spPr>
          <a:xfrm>
            <a:off x="914400" y="3704820"/>
            <a:ext cx="27590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Horizontal Cross Section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5CE548-51E7-CCD4-3169-CFE35DE405FE}"/>
              </a:ext>
            </a:extLst>
          </p:cNvPr>
          <p:cNvSpPr txBox="1"/>
          <p:nvPr/>
        </p:nvSpPr>
        <p:spPr>
          <a:xfrm>
            <a:off x="7315200" y="5942084"/>
            <a:ext cx="25523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Vertical Cross Section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26720">
              <a:lnSpc>
                <a:spcPct val="100000"/>
              </a:lnSpc>
              <a:spcBef>
                <a:spcPts val="105"/>
              </a:spcBef>
            </a:pPr>
            <a:r>
              <a:rPr spc="-50" dirty="0"/>
              <a:t>RESULTS</a:t>
            </a:r>
            <a:r>
              <a:rPr spc="-215" dirty="0"/>
              <a:t> </a:t>
            </a:r>
            <a:r>
              <a:rPr dirty="0"/>
              <a:t>AND</a:t>
            </a:r>
            <a:r>
              <a:rPr spc="-65" dirty="0"/>
              <a:t> </a:t>
            </a:r>
            <a:r>
              <a:rPr dirty="0"/>
              <a:t>DISCUSSION</a:t>
            </a:r>
            <a:r>
              <a:rPr spc="-25" dirty="0"/>
              <a:t> </a:t>
            </a:r>
            <a:r>
              <a:rPr spc="-50" dirty="0"/>
              <a:t>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535156" y="6487001"/>
            <a:ext cx="254635" cy="30543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1" spc="-25" dirty="0">
                <a:latin typeface="Calibri"/>
                <a:cs typeface="Calibri"/>
              </a:rPr>
              <a:t>12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93553C-41D6-E1F9-FAC0-B29F6E057059}"/>
              </a:ext>
            </a:extLst>
          </p:cNvPr>
          <p:cNvSpPr txBox="1"/>
          <p:nvPr/>
        </p:nvSpPr>
        <p:spPr>
          <a:xfrm>
            <a:off x="762000" y="914400"/>
            <a:ext cx="10515600" cy="4538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Groundwater occurs mainly in fracture zones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massive rock stores almost no water.</a:t>
            </a:r>
          </a:p>
          <a:p>
            <a:pPr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Productive wells intersect multiple fractures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while single-fracture wells show low yield.</a:t>
            </a:r>
          </a:p>
          <a:p>
            <a:pPr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fractures (90–120+ m) are isolated pockets,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forming the highest-yield aquifer zones.</a:t>
            </a:r>
          </a:p>
          <a:p>
            <a:pPr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3D model, fence diagrams, and cross-sections clearly map fracture geometry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revealing true           </a:t>
            </a:r>
          </a:p>
          <a:p>
            <a:pPr>
              <a:lnSpc>
                <a:spcPct val="3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groundwater potential areas.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4958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F1F1F1"/>
                </a:solidFill>
              </a:rPr>
              <a:t>CONCLUSION</a:t>
            </a:r>
            <a:r>
              <a:rPr spc="-85" dirty="0">
                <a:solidFill>
                  <a:srgbClr val="F1F1F1"/>
                </a:solidFill>
              </a:rPr>
              <a:t> </a:t>
            </a:r>
            <a:r>
              <a:rPr spc="-50" dirty="0">
                <a:solidFill>
                  <a:srgbClr val="F1F1F1"/>
                </a:solidFill>
              </a:rPr>
              <a:t>: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90"/>
              </a:spcBef>
            </a:pPr>
            <a:r>
              <a:rPr spc="-25" dirty="0"/>
              <a:t>21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9870" y="772223"/>
            <a:ext cx="11754485" cy="3686587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Gundlu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Basin is a hard-rock aquifer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where groundwater exists only in fracture networks.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Weathered zone is thin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offering very limited shallow groundwater storage.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Three main aquifer fractures occur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roughly at 20–40 m, 50–80 m, and 90–120+ m.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PCC values indicate deeper groundwater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requiring more pumping energy.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Over-extraction has caused declining water levels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with weak monsoon recovery.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492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REFERENCE</a:t>
            </a:r>
            <a:r>
              <a:rPr spc="-65" dirty="0"/>
              <a:t> </a:t>
            </a:r>
            <a:r>
              <a:rPr spc="-50" dirty="0"/>
              <a:t>: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90"/>
              </a:spcBef>
            </a:pPr>
            <a:r>
              <a:rPr spc="-25" dirty="0"/>
              <a:t>22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1359" y="1234439"/>
            <a:ext cx="10083800" cy="518411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Atal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Bhujal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Yojana (2023–24) – Provides updated hydrogeological insights and groundwater status for the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Gundlupet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hard-rock aquifer system.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CGWB District Report (2012) – Establishes baseline groundwater conditions, recharge characteristics, and declining trends in the Mysore–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Gundlupet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region.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Frontiers in Water (2022) – Demonstrates that recharge in hard-rock terrains is episodic and occurs mainly through high-intensity rainfall events.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Maréchal et al. (2020) – Defines the three-layer hard-rock aquifer structure (weathered zone + shallow fractures + deep fractures) in South India.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Balasubramanian (2017) – Examines groundwater quality and distribution patterns in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Gundlupet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Taluk using local field observations.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23665" y="1804670"/>
            <a:ext cx="5135880" cy="353187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86155" marR="5080" indent="-974090">
              <a:lnSpc>
                <a:spcPct val="100099"/>
              </a:lnSpc>
              <a:spcBef>
                <a:spcPts val="75"/>
              </a:spcBef>
            </a:pPr>
            <a:r>
              <a:rPr sz="11500" b="0" spc="-10" dirty="0">
                <a:solidFill>
                  <a:srgbClr val="000000"/>
                </a:solidFill>
                <a:latin typeface="Times New Roman"/>
                <a:cs typeface="Times New Roman"/>
              </a:rPr>
              <a:t>THANK </a:t>
            </a:r>
            <a:r>
              <a:rPr sz="11500" b="0" spc="-25" dirty="0">
                <a:solidFill>
                  <a:srgbClr val="000000"/>
                </a:solidFill>
                <a:latin typeface="Times New Roman"/>
                <a:cs typeface="Times New Roman"/>
              </a:rPr>
              <a:t>YOU</a:t>
            </a:r>
            <a:endParaRPr sz="115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90"/>
              </a:spcBef>
            </a:pPr>
            <a:r>
              <a:rPr spc="-25" dirty="0"/>
              <a:t>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197</TotalTime>
  <Words>780</Words>
  <Application>Microsoft Office PowerPoint</Application>
  <PresentationFormat>Widescreen</PresentationFormat>
  <Paragraphs>188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Times New Roman</vt:lpstr>
      <vt:lpstr>Wingdings</vt:lpstr>
      <vt:lpstr>Office Theme</vt:lpstr>
      <vt:lpstr>3D GEOLOGICAL CONCEPTUAL GROUNDWATER MODELLING USING GMS</vt:lpstr>
      <vt:lpstr>CONTENT :</vt:lpstr>
      <vt:lpstr>INTRODUCTION :</vt:lpstr>
      <vt:lpstr>LITERATURE REVIEW :</vt:lpstr>
      <vt:lpstr>LITERATURE REVIEW :</vt:lpstr>
      <vt:lpstr>OBJECTIVES :</vt:lpstr>
      <vt:lpstr>STUDY AREA MAP:</vt:lpstr>
      <vt:lpstr>DATA SETS :</vt:lpstr>
      <vt:lpstr>METHODOLOGY :</vt:lpstr>
      <vt:lpstr>RESULTS AND DISCUSSION :</vt:lpstr>
      <vt:lpstr>RESULTS AND DISCUSSION :</vt:lpstr>
      <vt:lpstr>RESULTS AND DISCUSSION :</vt:lpstr>
      <vt:lpstr>CONCLUSION :</vt:lpstr>
      <vt:lpstr>REFERENCE :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Mahammed Aashid</dc:creator>
  <cp:lastModifiedBy>Gowtham R</cp:lastModifiedBy>
  <cp:revision>2</cp:revision>
  <dcterms:created xsi:type="dcterms:W3CDTF">2025-11-27T18:31:25Z</dcterms:created>
  <dcterms:modified xsi:type="dcterms:W3CDTF">2025-11-28T06:05:15Z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2025-11-27T00:00:00Z</vt:filetime>
  </property>
  <property fmtid="{D5CDD505-2E9C-101B-9397-08002B2CF9AE}" pid="3" name="LastSaved">
    <vt:filetime>2025-11-27T00:00:00Z</vt:filetime>
  </property>
</Properties>
</file>